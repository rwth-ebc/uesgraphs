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1"/>
    <p:sldMasterId id="2147483793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9" r:id="rId4"/>
    <p:sldId id="269" r:id="rId5"/>
    <p:sldId id="338" r:id="rId6"/>
    <p:sldId id="340" r:id="rId7"/>
    <p:sldId id="336" r:id="rId8"/>
    <p:sldId id="337" r:id="rId9"/>
  </p:sldIdLst>
  <p:sldSz cx="12192000" cy="6858000"/>
  <p:notesSz cx="6797675" cy="985678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26" userDrawn="1">
          <p15:clr>
            <a:srgbClr val="A4A3A4"/>
          </p15:clr>
        </p15:guide>
        <p15:guide id="4" orient="horz" pos="4194" userDrawn="1">
          <p15:clr>
            <a:srgbClr val="A4A3A4"/>
          </p15:clr>
        </p15:guide>
        <p15:guide id="5" orient="horz" pos="3306" userDrawn="1">
          <p15:clr>
            <a:srgbClr val="A4A3A4"/>
          </p15:clr>
        </p15:guide>
        <p15:guide id="6" pos="7440" userDrawn="1">
          <p15:clr>
            <a:srgbClr val="A4A3A4"/>
          </p15:clr>
        </p15:guide>
        <p15:guide id="7" pos="234" userDrawn="1">
          <p15:clr>
            <a:srgbClr val="A4A3A4"/>
          </p15:clr>
        </p15:guide>
        <p15:guide id="8" pos="1096" userDrawn="1">
          <p15:clr>
            <a:srgbClr val="A4A3A4"/>
          </p15:clr>
        </p15:guide>
        <p15:guide id="9" pos="18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5" userDrawn="1">
          <p15:clr>
            <a:srgbClr val="A4A3A4"/>
          </p15:clr>
        </p15:guide>
        <p15:guide id="3" orient="horz" pos="3104" userDrawn="1">
          <p15:clr>
            <a:srgbClr val="A4A3A4"/>
          </p15:clr>
        </p15:guide>
        <p15:guide id="4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02060"/>
    <a:srgbClr val="C00000"/>
    <a:srgbClr val="F2CECD"/>
    <a:srgbClr val="DD402D"/>
    <a:srgbClr val="F9E8E8"/>
    <a:srgbClr val="F1B3AB"/>
    <a:srgbClr val="70AD47"/>
    <a:srgbClr val="A5A5A5"/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447" autoAdjust="0"/>
  </p:normalViewPr>
  <p:slideViewPr>
    <p:cSldViewPr snapToGrid="0" showGuides="1">
      <p:cViewPr varScale="1">
        <p:scale>
          <a:sx n="109" d="100"/>
          <a:sy n="109" d="100"/>
        </p:scale>
        <p:origin x="1146" y="114"/>
      </p:cViewPr>
      <p:guideLst>
        <p:guide orient="horz" pos="2160"/>
        <p:guide pos="3840"/>
        <p:guide orient="horz" pos="726"/>
        <p:guide orient="horz" pos="4194"/>
        <p:guide orient="horz" pos="3306"/>
        <p:guide pos="7440"/>
        <p:guide pos="234"/>
        <p:guide pos="1096"/>
        <p:guide pos="1844"/>
      </p:guideLst>
    </p:cSldViewPr>
  </p:slideViewPr>
  <p:outlineViewPr>
    <p:cViewPr>
      <p:scale>
        <a:sx n="33" d="100"/>
        <a:sy n="33" d="100"/>
      </p:scale>
      <p:origin x="0" y="-21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4038" y="96"/>
      </p:cViewPr>
      <p:guideLst>
        <p:guide orient="horz" pos="3223"/>
        <p:guide pos="2235"/>
        <p:guide orient="horz" pos="3104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>
                <a:latin typeface="+mn-lt"/>
              </a:defRPr>
            </a:lvl1pPr>
          </a:lstStyle>
          <a:p>
            <a:pPr>
              <a:defRPr/>
            </a:pPr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6" y="3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100" smtClean="0">
                <a:latin typeface="+mn-lt"/>
              </a:defRPr>
            </a:lvl1pPr>
          </a:lstStyle>
          <a:p>
            <a:pPr>
              <a:defRPr/>
            </a:pPr>
            <a:fld id="{A989147A-E99F-426E-8428-4F7A2B762C1A}" type="datetimeFigureOut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12.03.2026</a:t>
            </a:fld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362957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>
                <a:latin typeface="+mn-lt"/>
              </a:defRPr>
            </a:lvl1pPr>
          </a:lstStyle>
          <a:p>
            <a:pPr>
              <a:defRPr/>
            </a:pPr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6" y="9362957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100" smtClean="0">
                <a:latin typeface="+mn-lt"/>
              </a:defRPr>
            </a:lvl1pPr>
          </a:lstStyle>
          <a:p>
            <a:pPr>
              <a:defRPr/>
            </a:pPr>
            <a:fld id="{1FEB8BDD-D483-4F2A-8149-5CAA22251911}" type="slidenum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‹Nr.›</a:t>
            </a:fld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6278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6" y="3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+mn-lt"/>
              </a:defRPr>
            </a:lvl1pPr>
          </a:lstStyle>
          <a:p>
            <a:pPr>
              <a:defRPr/>
            </a:pPr>
            <a:fld id="{E619EF57-6584-4C28-9DE9-68C51C925951}" type="datetimeFigureOut">
              <a:rPr lang="de-DE" smtClean="0"/>
              <a:pPr>
                <a:defRPr/>
              </a:pPr>
              <a:t>12.03.2026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41325" y="1231900"/>
            <a:ext cx="5915025" cy="3327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525" tIns="43763" rIns="87525" bIns="43763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5" y="4744165"/>
            <a:ext cx="5438748" cy="3880336"/>
          </a:xfrm>
          <a:prstGeom prst="rect">
            <a:avLst/>
          </a:prstGeom>
        </p:spPr>
        <p:txBody>
          <a:bodyPr vert="horz" lIns="87525" tIns="43763" rIns="87525" bIns="43763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362957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6" y="9362957"/>
            <a:ext cx="2945862" cy="493833"/>
          </a:xfrm>
          <a:prstGeom prst="rect">
            <a:avLst/>
          </a:prstGeom>
        </p:spPr>
        <p:txBody>
          <a:bodyPr vert="horz" lIns="87525" tIns="43763" rIns="87525" bIns="4376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B79B9A-35EE-4156-AEAA-A71D25E1C590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41052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3814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37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4381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46C5-DFBE-397D-EF0E-1992D00D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2FBB82B-6631-B05B-EF6A-C697E0FB2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6E3870-0811-B350-377E-7F8C3EFB9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226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A9242-9632-52A5-F88C-49EDFDA12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918ED3-2620-71F8-703E-A2C3892C0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E43B669-1128-9611-9215-106D6D666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4968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E60CA-705F-EBAC-315C-2189B8455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33E9AE2-9335-4D6D-EAE3-5674755A2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97977F-E3B6-B7D2-0C4C-FC003DC79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6341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89E98-BE9B-882B-0C13-A0A98B33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869177E-C230-4103-78E3-78A56AFA7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A1724F-FD64-060C-6E34-F48A7C3CB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4485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1440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9D9EA0"/>
                </a:solidFill>
              </a:defRPr>
            </a:lvl1pPr>
          </a:lstStyle>
          <a:p>
            <a:r>
              <a:rPr lang="de-DE" dirty="0"/>
              <a:t>Mastertitelformat durch Klicken bearbeiten</a:t>
            </a:r>
            <a:br>
              <a:rPr lang="de-DE" dirty="0"/>
            </a:br>
            <a:r>
              <a:rPr lang="de-DE" dirty="0"/>
              <a:t>Beispiel für die Anwendung eines zweizeiligen Titels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83121" y="871200"/>
            <a:ext cx="11425767" cy="5292000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Char char="■"/>
              <a:defRPr lang="de-DE" dirty="0" smtClean="0"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</p:spTree>
    <p:extLst>
      <p:ext uri="{BB962C8B-B14F-4D97-AF65-F5344CB8AC3E}">
        <p14:creationId xmlns:p14="http://schemas.microsoft.com/office/powerpoint/2010/main" val="381497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1440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9D9EA0"/>
                </a:solidFill>
              </a:defRPr>
            </a:lvl1pPr>
          </a:lstStyle>
          <a:p>
            <a:r>
              <a:rPr lang="de-DE" dirty="0"/>
              <a:t>Mastertitelformat durch Klicken bearbeiten</a:t>
            </a:r>
            <a:br>
              <a:rPr lang="de-DE" dirty="0"/>
            </a:br>
            <a:r>
              <a:rPr lang="de-DE" dirty="0"/>
              <a:t>Beispiel für die Anwendung eines zweizeiligen Titels</a:t>
            </a:r>
            <a:endParaRPr lang="en-US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121" y="871200"/>
            <a:ext cx="11425767" cy="529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dirty="0"/>
              <a:t>Textbereich</a:t>
            </a:r>
          </a:p>
        </p:txBody>
      </p:sp>
    </p:spTree>
    <p:extLst>
      <p:ext uri="{BB962C8B-B14F-4D97-AF65-F5344CB8AC3E}">
        <p14:creationId xmlns:p14="http://schemas.microsoft.com/office/powerpoint/2010/main" val="130120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ild (66:3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1440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9D9EA0"/>
                </a:solidFill>
              </a:defRPr>
            </a:lvl1pPr>
          </a:lstStyle>
          <a:p>
            <a:r>
              <a:rPr lang="de-DE" dirty="0"/>
              <a:t>Mastertitelformat durch Klicken bearbeiten</a:t>
            </a:r>
            <a:br>
              <a:rPr lang="de-DE" dirty="0"/>
            </a:br>
            <a:r>
              <a:rPr lang="de-DE" dirty="0"/>
              <a:t>Beispiel für die Anwendung eines zweizeiligen Titels</a:t>
            </a:r>
            <a:endParaRPr lang="en-US" dirty="0"/>
          </a:p>
        </p:txBody>
      </p:sp>
      <p:sp>
        <p:nvSpPr>
          <p:cNvPr id="6" name="Bildplatzhalter 3"/>
          <p:cNvSpPr>
            <a:spLocks noGrp="1"/>
          </p:cNvSpPr>
          <p:nvPr>
            <p:ph type="pic" sz="quarter" idx="15"/>
          </p:nvPr>
        </p:nvSpPr>
        <p:spPr>
          <a:xfrm>
            <a:off x="8256000" y="1094400"/>
            <a:ext cx="3552000" cy="445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</a:rPr>
              <a:t>Bild</a:t>
            </a:r>
            <a:r>
              <a:rPr lang="de-DE" sz="1000" baseline="0" dirty="0">
                <a:latin typeface="+mn-lt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+mn-lt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+mn-lt"/>
              </a:rPr>
              <a:t>Anweisungen folgen</a:t>
            </a:r>
            <a:endParaRPr lang="de-DE" sz="1000" dirty="0">
              <a:latin typeface="+mn-lt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+mn-lt"/>
            </a:endParaRP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8256000" y="5662800"/>
            <a:ext cx="3552000" cy="50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/>
            </a:lvl1pPr>
          </a:lstStyle>
          <a:p>
            <a:pPr lvl="0"/>
            <a:r>
              <a:rPr lang="de-DE" dirty="0"/>
              <a:t>Bildtitel oder ggf. Beschreibung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83117" y="871200"/>
            <a:ext cx="7531200" cy="5292000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Char char="■"/>
              <a:defRPr lang="de-DE" dirty="0" smtClean="0"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</p:spTree>
    <p:extLst>
      <p:ext uri="{BB962C8B-B14F-4D97-AF65-F5344CB8AC3E}">
        <p14:creationId xmlns:p14="http://schemas.microsoft.com/office/powerpoint/2010/main" val="356083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ild (50:5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1440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9D9EA0"/>
                </a:solidFill>
              </a:defRPr>
            </a:lvl1pPr>
          </a:lstStyle>
          <a:p>
            <a:r>
              <a:rPr lang="de-DE" dirty="0"/>
              <a:t>Mastertitelformat durch Klicken bearbeiten</a:t>
            </a:r>
            <a:br>
              <a:rPr lang="de-DE" dirty="0"/>
            </a:br>
            <a:r>
              <a:rPr lang="de-DE" dirty="0"/>
              <a:t>Beispiel für die Anwendung eines zweizeiligen Titels</a:t>
            </a:r>
            <a:endParaRPr lang="en-US" dirty="0"/>
          </a:p>
        </p:txBody>
      </p:sp>
      <p:sp>
        <p:nvSpPr>
          <p:cNvPr id="6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268800" y="1094400"/>
            <a:ext cx="5539200" cy="445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</a:rPr>
              <a:t>Bild</a:t>
            </a:r>
            <a:r>
              <a:rPr lang="de-DE" sz="1000" baseline="0" dirty="0">
                <a:latin typeface="+mn-lt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+mn-lt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+mn-lt"/>
              </a:rPr>
              <a:t>Anweisungen folgen</a:t>
            </a:r>
            <a:endParaRPr lang="de-DE" sz="1000" dirty="0">
              <a:latin typeface="+mn-lt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+mn-lt"/>
            </a:endParaRP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268800" y="5662800"/>
            <a:ext cx="5539200" cy="50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/>
            </a:lvl1pPr>
          </a:lstStyle>
          <a:p>
            <a:pPr lvl="0"/>
            <a:r>
              <a:rPr lang="de-DE" dirty="0"/>
              <a:t>Bildtitel oder ggf. Beschreibung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83117" y="871200"/>
            <a:ext cx="5539200" cy="5292000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Char char="■"/>
              <a:defRPr lang="de-DE" dirty="0" smtClean="0"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</p:spTree>
    <p:extLst>
      <p:ext uri="{BB962C8B-B14F-4D97-AF65-F5344CB8AC3E}">
        <p14:creationId xmlns:p14="http://schemas.microsoft.com/office/powerpoint/2010/main" val="215921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1440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9D9EA0"/>
                </a:solidFill>
              </a:defRPr>
            </a:lvl1pPr>
          </a:lstStyle>
          <a:p>
            <a:r>
              <a:rPr lang="de-DE" dirty="0"/>
              <a:t>Mastertitelformat durch Klicken bearbeiten</a:t>
            </a:r>
            <a:br>
              <a:rPr lang="de-DE" dirty="0"/>
            </a:br>
            <a:r>
              <a:rPr lang="de-DE" dirty="0"/>
              <a:t>Beispiel für die Anwendung eines zweizeiligen Titels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6" y="5662805"/>
            <a:ext cx="1142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/>
            </a:lvl1pPr>
          </a:lstStyle>
          <a:p>
            <a:pPr lvl="0"/>
            <a:r>
              <a:rPr lang="de-DE" dirty="0"/>
              <a:t>Bildtitel oder ggf. Beschreibung</a:t>
            </a:r>
          </a:p>
        </p:txBody>
      </p:sp>
      <p:sp>
        <p:nvSpPr>
          <p:cNvPr id="5" name="Bildplatzhalter 3"/>
          <p:cNvSpPr>
            <a:spLocks noGrp="1"/>
          </p:cNvSpPr>
          <p:nvPr>
            <p:ph type="pic" sz="quarter" idx="14"/>
          </p:nvPr>
        </p:nvSpPr>
        <p:spPr>
          <a:xfrm>
            <a:off x="384000" y="1094400"/>
            <a:ext cx="11424000" cy="445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Textfeld 5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</a:rPr>
              <a:t>Bild</a:t>
            </a:r>
            <a:r>
              <a:rPr lang="de-DE" sz="1000" baseline="0" dirty="0">
                <a:latin typeface="+mn-lt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+mn-lt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+mn-lt"/>
              </a:rPr>
              <a:t>Anweisungen folgen</a:t>
            </a:r>
            <a:endParaRPr lang="de-DE" sz="1000" dirty="0">
              <a:latin typeface="+mn-lt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06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1440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9D9EA0"/>
                </a:solidFill>
              </a:defRPr>
            </a:lvl1pPr>
          </a:lstStyle>
          <a:p>
            <a:r>
              <a:rPr lang="de-DE" dirty="0"/>
              <a:t>Mastertitelformat durch Klicken bearbeiten</a:t>
            </a:r>
            <a:br>
              <a:rPr lang="de-DE" dirty="0"/>
            </a:br>
            <a:r>
              <a:rPr lang="de-DE" dirty="0"/>
              <a:t>Beispiel für die Anwendung eines zweizeiligen Titels</a:t>
            </a:r>
            <a:endParaRPr lang="en-US" dirty="0"/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21" y="871200"/>
            <a:ext cx="11425767" cy="5292000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>
              <a:buNone/>
              <a:defRPr/>
            </a:lvl1pPr>
          </a:lstStyle>
          <a:p>
            <a:r>
              <a:rPr lang="de-DE"/>
              <a:t>Diagramm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284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-Titel, 1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4000" y="6339600"/>
            <a:ext cx="432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de-DE" sz="1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sz="1400" dirty="0"/>
              <a:t>Name des Vortragenden</a:t>
            </a:r>
            <a:endParaRPr lang="de-DE" dirty="0"/>
          </a:p>
        </p:txBody>
      </p:sp>
      <p:sp>
        <p:nvSpPr>
          <p:cNvPr id="4" name="Rechteck 3"/>
          <p:cNvSpPr/>
          <p:nvPr userDrawn="1"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rgbClr val="DD4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rgbClr val="DD40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Beispiel-Titel</a:t>
            </a:r>
            <a:r>
              <a:rPr lang="en-US" dirty="0"/>
              <a:t>, 1. </a:t>
            </a:r>
            <a:r>
              <a:rPr lang="en-US" dirty="0" err="1"/>
              <a:t>Variante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5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-Titel, 2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rgbClr val="9D9E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rgbClr val="9D9E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Beispiel-Titel, 2. Variante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  <p:sp>
        <p:nvSpPr>
          <p:cNvPr id="6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4000" y="6339600"/>
            <a:ext cx="432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de-DE" sz="1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sz="1400" dirty="0"/>
              <a:t>Name des Vortragenden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523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-Titel, 3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rgbClr val="9D9E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Beispiel-Titel, 3. Variante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  <p:sp>
        <p:nvSpPr>
          <p:cNvPr id="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-1700" y="0"/>
            <a:ext cx="12192000" cy="23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</a:t>
            </a: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Anweisungen folgen</a:t>
            </a: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6339600"/>
            <a:ext cx="432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de-DE" sz="1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sz="1400" dirty="0"/>
              <a:t>Name des Vortragenden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564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-Titel, 4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rgbClr val="9D9E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Beispiel-Titel, 4. Variante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5230805"/>
            <a:ext cx="1142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  <p:sp>
        <p:nvSpPr>
          <p:cNvPr id="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55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</a:t>
            </a: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Anweisungen folgen</a:t>
            </a: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6339600"/>
            <a:ext cx="432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de-DE" sz="1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sz="1400" dirty="0"/>
              <a:t>Name des Vortragenden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536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-Titel, 5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rgbClr val="9D9E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Beispiel-Titel, 5. Variante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  <p:cxnSp>
        <p:nvCxnSpPr>
          <p:cNvPr id="4" name="Gerader Verbinder 11"/>
          <p:cNvCxnSpPr/>
          <p:nvPr userDrawn="1"/>
        </p:nvCxnSpPr>
        <p:spPr>
          <a:xfrm>
            <a:off x="383121" y="6300000"/>
            <a:ext cx="11425767" cy="0"/>
          </a:xfrm>
          <a:prstGeom prst="line">
            <a:avLst/>
          </a:prstGeom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4000" y="6339600"/>
            <a:ext cx="432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de-DE" sz="1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sz="1400" dirty="0"/>
              <a:t>Name des Vortragenden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3773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-Titel, 6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rgbClr val="9D9E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Beispiel-Titel, 6. Variante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196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  <p:cxnSp>
        <p:nvCxnSpPr>
          <p:cNvPr id="4" name="Gerader Verbinder 3"/>
          <p:cNvCxnSpPr/>
          <p:nvPr userDrawn="1"/>
        </p:nvCxnSpPr>
        <p:spPr>
          <a:xfrm>
            <a:off x="383121" y="3036888"/>
            <a:ext cx="11425767" cy="0"/>
          </a:xfrm>
          <a:prstGeom prst="line">
            <a:avLst/>
          </a:prstGeom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4000" y="6339600"/>
            <a:ext cx="432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de-DE" sz="1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sz="1400" dirty="0"/>
              <a:t>Name des Vortragenden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8063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-Titel, 7. Variante (mit Partner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 baseline="0">
                <a:solidFill>
                  <a:srgbClr val="9D9E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Beispiel-Titel, 7. Variante (mit Partnerlogo)</a:t>
            </a:r>
            <a:endParaRPr lang="en-US" dirty="0"/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-1700" y="0"/>
            <a:ext cx="12192000" cy="23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6" name="Textfeld 5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</a:t>
            </a: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Anweisungen folgen</a:t>
            </a: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Bildplatzhalter 12"/>
          <p:cNvSpPr>
            <a:spLocks noGrp="1"/>
          </p:cNvSpPr>
          <p:nvPr>
            <p:ph type="pic" sz="quarter" idx="12" hasCustomPrompt="1"/>
          </p:nvPr>
        </p:nvSpPr>
        <p:spPr>
          <a:xfrm>
            <a:off x="2510400" y="6351373"/>
            <a:ext cx="2160000" cy="4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Partnerlogo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872000" y="5731200"/>
            <a:ext cx="6945600" cy="4320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0" indent="0" algn="r">
              <a:buNone/>
              <a:defRPr lang="de-DE" sz="1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sz="1400" dirty="0"/>
              <a:t>Name des Vortragenden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4838400" y="6375605"/>
            <a:ext cx="0" cy="38338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0206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 Kontakt, 1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</a:t>
            </a: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Anweisungen folgen</a:t>
            </a: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14800"/>
          </a:xfrm>
          <a:prstGeom prst="rect">
            <a:avLst/>
          </a:prstGeom>
        </p:spPr>
        <p:txBody>
          <a:bodyPr/>
          <a:lstStyle>
            <a:lvl1pPr marL="0" marR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6" name="Textplatzhalter 1"/>
          <p:cNvSpPr>
            <a:spLocks noGrp="1"/>
          </p:cNvSpPr>
          <p:nvPr>
            <p:ph type="body" sz="quarter" idx="14" hasCustomPrompt="1"/>
          </p:nvPr>
        </p:nvSpPr>
        <p:spPr>
          <a:xfrm>
            <a:off x="384000" y="2847599"/>
            <a:ext cx="5539200" cy="33156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Kontaktdaten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384000" y="2487600"/>
            <a:ext cx="11424000" cy="23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322005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 Kontakt, 2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12344100" y="540456"/>
            <a:ext cx="2188633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</a:t>
            </a: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 anklicken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Bild löschen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baseline="0" dirty="0">
                <a:latin typeface="Arial" panose="020B0604020202020204" pitchFamily="34" charset="0"/>
                <a:cs typeface="Arial" panose="020B0604020202020204" pitchFamily="34" charset="0"/>
              </a:rPr>
              <a:t>Anweisungen folgen</a:t>
            </a: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455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8" name="Textplatzhalter 1"/>
          <p:cNvSpPr>
            <a:spLocks noGrp="1"/>
          </p:cNvSpPr>
          <p:nvPr>
            <p:ph type="body" sz="quarter" idx="14" hasCustomPrompt="1"/>
          </p:nvPr>
        </p:nvSpPr>
        <p:spPr>
          <a:xfrm>
            <a:off x="383999" y="5086800"/>
            <a:ext cx="5539200" cy="107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Firmenadresse</a:t>
            </a:r>
          </a:p>
          <a:p>
            <a:endParaRPr lang="de-DE" dirty="0"/>
          </a:p>
        </p:txBody>
      </p:sp>
      <p:sp>
        <p:nvSpPr>
          <p:cNvPr id="11" name="Textplatzhalter 1"/>
          <p:cNvSpPr>
            <a:spLocks noGrp="1"/>
          </p:cNvSpPr>
          <p:nvPr>
            <p:ph type="body" sz="quarter" idx="16" hasCustomPrompt="1"/>
          </p:nvPr>
        </p:nvSpPr>
        <p:spPr>
          <a:xfrm>
            <a:off x="6268800" y="5086800"/>
            <a:ext cx="5539200" cy="107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baseline="0"/>
            </a:lvl1pPr>
          </a:lstStyle>
          <a:p>
            <a:r>
              <a:rPr lang="de-DE" sz="1400" dirty="0"/>
              <a:t>Kontaktdaten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384000" y="4726800"/>
            <a:ext cx="11424000" cy="23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2683691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 Kontakt, 3. Variante">
    <p:bg>
      <p:bgPr>
        <a:blipFill dpi="0" rotWithShape="1">
          <a:blip r:embed="rId2">
            <a:alphaModFix amt="20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84000" y="2563200"/>
            <a:ext cx="5539200" cy="36000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1400"/>
            </a:lvl1pPr>
          </a:lstStyle>
          <a:p>
            <a:pPr lvl="0"/>
            <a:r>
              <a:rPr lang="de-DE" dirty="0"/>
              <a:t>Kontaktdaten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12344100" y="540458"/>
            <a:ext cx="2188633" cy="13234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ändern: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/>
            </a:pPr>
            <a:r>
              <a:rPr lang="de-DE" sz="1000" b="0" dirty="0">
                <a:latin typeface="Arial" panose="020B0604020202020204" pitchFamily="34" charset="0"/>
                <a:cs typeface="Arial" panose="020B0604020202020204" pitchFamily="34" charset="0"/>
              </a:rPr>
              <a:t>Rechtsklick auf freie Fläche innerhalb der Folie.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/>
            </a:pPr>
            <a:r>
              <a:rPr lang="de-DE" sz="1000" b="0" dirty="0">
                <a:latin typeface="Arial" panose="020B0604020202020204" pitchFamily="34" charset="0"/>
                <a:cs typeface="Arial" panose="020B0604020202020204" pitchFamily="34" charset="0"/>
              </a:rPr>
              <a:t>Hintergrund formatieren anklicken.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/>
            </a:pPr>
            <a:r>
              <a:rPr lang="de-DE" sz="1000" b="0" dirty="0">
                <a:latin typeface="Arial" panose="020B0604020202020204" pitchFamily="34" charset="0"/>
                <a:cs typeface="Arial" panose="020B0604020202020204" pitchFamily="34" charset="0"/>
              </a:rPr>
              <a:t>Unter "Füllung" den Button "Datei..." anklicken und Grafik auswählen.</a:t>
            </a:r>
          </a:p>
        </p:txBody>
      </p:sp>
    </p:spTree>
    <p:extLst>
      <p:ext uri="{BB962C8B-B14F-4D97-AF65-F5344CB8AC3E}">
        <p14:creationId xmlns:p14="http://schemas.microsoft.com/office/powerpoint/2010/main" val="3500427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 Partner, 1.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/>
          <p:cNvSpPr>
            <a:spLocks noGrp="1"/>
          </p:cNvSpPr>
          <p:nvPr>
            <p:ph type="pic" sz="quarter" idx="19" hasCustomPrompt="1"/>
          </p:nvPr>
        </p:nvSpPr>
        <p:spPr>
          <a:xfrm>
            <a:off x="10113600" y="45936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384000" y="45936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tx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21" hasCustomPrompt="1"/>
          </p:nvPr>
        </p:nvSpPr>
        <p:spPr>
          <a:xfrm>
            <a:off x="10113600" y="34812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84000" y="34812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tx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23" hasCustomPrompt="1"/>
          </p:nvPr>
        </p:nvSpPr>
        <p:spPr>
          <a:xfrm>
            <a:off x="10113600" y="23688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384000" y="23688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tx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25" hasCustomPrompt="1"/>
          </p:nvPr>
        </p:nvSpPr>
        <p:spPr>
          <a:xfrm>
            <a:off x="10113600" y="12564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26" hasCustomPrompt="1"/>
          </p:nvPr>
        </p:nvSpPr>
        <p:spPr>
          <a:xfrm>
            <a:off x="384000" y="12564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tx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27" hasCustomPrompt="1"/>
          </p:nvPr>
        </p:nvSpPr>
        <p:spPr>
          <a:xfrm>
            <a:off x="10113600" y="1440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384000" y="1440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tx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890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Partner, 2. Varian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2"/>
          <p:cNvSpPr>
            <a:spLocks noGrp="1"/>
          </p:cNvSpPr>
          <p:nvPr>
            <p:ph type="pic" sz="quarter" idx="12" hasCustomPrompt="1"/>
          </p:nvPr>
        </p:nvSpPr>
        <p:spPr>
          <a:xfrm>
            <a:off x="10113600" y="57060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384000" y="57060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bg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9" hasCustomPrompt="1"/>
          </p:nvPr>
        </p:nvSpPr>
        <p:spPr>
          <a:xfrm>
            <a:off x="10113600" y="45936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384000" y="45936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bg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1" hasCustomPrompt="1"/>
          </p:nvPr>
        </p:nvSpPr>
        <p:spPr>
          <a:xfrm>
            <a:off x="10113600" y="34812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84000" y="34812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bg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23" hasCustomPrompt="1"/>
          </p:nvPr>
        </p:nvSpPr>
        <p:spPr>
          <a:xfrm>
            <a:off x="10113600" y="23688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384000" y="23688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bg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5" hasCustomPrompt="1"/>
          </p:nvPr>
        </p:nvSpPr>
        <p:spPr>
          <a:xfrm>
            <a:off x="10113600" y="12564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26" hasCustomPrompt="1"/>
          </p:nvPr>
        </p:nvSpPr>
        <p:spPr>
          <a:xfrm>
            <a:off x="384000" y="12564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bg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7" hasCustomPrompt="1"/>
          </p:nvPr>
        </p:nvSpPr>
        <p:spPr>
          <a:xfrm>
            <a:off x="10113600" y="144000"/>
            <a:ext cx="1694400" cy="10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Logo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auf Symbol </a:t>
            </a:r>
            <a:r>
              <a:rPr lang="en-US" dirty="0" err="1"/>
              <a:t>hinzufügen</a:t>
            </a:r>
            <a:endParaRPr lang="de-DE" dirty="0"/>
          </a:p>
        </p:txBody>
      </p:sp>
      <p:sp>
        <p:nvSpPr>
          <p:cNvPr id="24" name="Textplatzhalt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384000" y="144000"/>
            <a:ext cx="9388800" cy="100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None/>
              <a:defRPr lang="de-DE" sz="1400" baseline="0" dirty="0" smtClean="0">
                <a:solidFill>
                  <a:schemeClr val="bg1"/>
                </a:solidFill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en-US" dirty="0" err="1"/>
              <a:t>Textbereich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00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1440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9D9EA0"/>
                </a:solidFill>
              </a:defRPr>
            </a:lvl1pPr>
          </a:lstStyle>
          <a:p>
            <a:r>
              <a:rPr lang="de-DE" dirty="0"/>
              <a:t>Mastertitelformat durch Klicken bearbeiten</a:t>
            </a:r>
            <a:br>
              <a:rPr lang="de-DE" dirty="0"/>
            </a:br>
            <a:r>
              <a:rPr lang="de-DE" dirty="0"/>
              <a:t>Beispiel für die Anwendung eines zweizeiligen Titels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83121" y="871200"/>
            <a:ext cx="11425767" cy="5292000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00000"/>
              </a:lnSpc>
              <a:spcBef>
                <a:spcPts val="600"/>
              </a:spcBef>
              <a:buSzPct val="115000"/>
              <a:buFont typeface="Arial" panose="020B0604020202020204" pitchFamily="34" charset="0"/>
              <a:buChar char="■"/>
              <a:defRPr lang="de-DE" dirty="0" smtClean="0">
                <a:latin typeface="+mj-lt"/>
              </a:defRPr>
            </a:lvl1pPr>
            <a:lvl2pPr marL="432000" indent="-215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≡"/>
              <a:defRPr lang="de-DE" sz="1600" dirty="0" smtClean="0">
                <a:latin typeface="+mj-lt"/>
              </a:defRPr>
            </a:lvl2pPr>
            <a:lvl3pPr marL="648000" indent="-2159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="/>
              <a:defRPr lang="de-DE" sz="1600" dirty="0" smtClean="0">
                <a:latin typeface="+mj-lt"/>
              </a:defRPr>
            </a:lvl3pPr>
            <a:lvl4pPr marL="864000" indent="-216000">
              <a:lnSpc>
                <a:spcPct val="100000"/>
              </a:lnSpc>
              <a:spcBef>
                <a:spcPts val="600"/>
              </a:spcBef>
              <a:buSzPct val="100000"/>
              <a:buFontTx/>
              <a:buChar char="□"/>
              <a:defRPr lang="de-DE" sz="1600" dirty="0" smtClean="0">
                <a:latin typeface="+mj-lt"/>
              </a:defRPr>
            </a:lvl4pPr>
            <a:lvl5pPr marL="1080000" indent="-216000">
              <a:lnSpc>
                <a:spcPct val="100000"/>
              </a:lnSpc>
              <a:spcBef>
                <a:spcPts val="600"/>
              </a:spcBef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5pPr>
            <a:lvl6pPr marL="1296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6pPr>
            <a:lvl7pPr marL="1512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7pPr>
            <a:lvl8pPr marL="1728000" indent="-216000">
              <a:lnSpc>
                <a:spcPct val="100000"/>
              </a:lnSpc>
              <a:spcBef>
                <a:spcPts val="600"/>
              </a:spcBef>
              <a:buClr>
                <a:srgbClr val="DD402D"/>
              </a:buClr>
              <a:buSzPct val="130000"/>
              <a:buFont typeface="Symbol" panose="05050102010706020507" pitchFamily="18" charset="2"/>
              <a:buChar char="-"/>
              <a:defRPr lang="de-DE" sz="1600" dirty="0" smtClean="0">
                <a:latin typeface="+mj-lt"/>
              </a:defRPr>
            </a:lvl8pPr>
            <a:lvl9pPr marL="3657600" indent="0">
              <a:buNone/>
              <a:defRPr baseline="0"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</p:spTree>
    <p:extLst>
      <p:ext uri="{BB962C8B-B14F-4D97-AF65-F5344CB8AC3E}">
        <p14:creationId xmlns:p14="http://schemas.microsoft.com/office/powerpoint/2010/main" val="262819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200" y="6372005"/>
            <a:ext cx="1011600" cy="407267"/>
          </a:xfrm>
          <a:prstGeom prst="rect">
            <a:avLst/>
          </a:prstGeom>
        </p:spPr>
      </p:pic>
      <p:pic>
        <p:nvPicPr>
          <p:cNvPr id="22" name="Grafik 21"/>
          <p:cNvPicPr>
            <a:picLocks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800" y="6379201"/>
            <a:ext cx="1429200" cy="392400"/>
          </a:xfrm>
          <a:prstGeom prst="rect">
            <a:avLst/>
          </a:prstGeom>
        </p:spPr>
      </p:pic>
      <p:sp>
        <p:nvSpPr>
          <p:cNvPr id="23" name="Rechteck 22"/>
          <p:cNvSpPr/>
          <p:nvPr userDrawn="1"/>
        </p:nvSpPr>
        <p:spPr>
          <a:xfrm>
            <a:off x="10258837" y="6373635"/>
            <a:ext cx="0" cy="38338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/>
          <p:cNvCxnSpPr/>
          <p:nvPr/>
        </p:nvCxnSpPr>
        <p:spPr>
          <a:xfrm>
            <a:off x="383121" y="741600"/>
            <a:ext cx="11425767" cy="0"/>
          </a:xfrm>
          <a:prstGeom prst="line">
            <a:avLst/>
          </a:prstGeom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-2868084" y="525227"/>
            <a:ext cx="27108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</a:rPr>
              <a:t>Fußzeile</a:t>
            </a:r>
            <a:r>
              <a:rPr lang="de-DE" sz="1000" b="1" baseline="0" dirty="0">
                <a:latin typeface="+mn-lt"/>
              </a:rPr>
              <a:t> anpassen</a:t>
            </a:r>
            <a:r>
              <a:rPr lang="de-DE" sz="1000" b="1" dirty="0">
                <a:latin typeface="+mn-lt"/>
              </a:rPr>
              <a:t>:</a:t>
            </a:r>
            <a:endParaRPr lang="de-DE" sz="1000" b="0" dirty="0">
              <a:latin typeface="+mn-lt"/>
            </a:endParaRP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1000" b="0" baseline="0" dirty="0">
                <a:latin typeface="+mn-lt"/>
              </a:rPr>
              <a:t>Im Karteireiter „Ansicht“  auf Folienmaster klicken.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1000" b="0" baseline="0" dirty="0">
                <a:latin typeface="+mn-lt"/>
              </a:rPr>
              <a:t>Links in der Übersicht die oberste Folie auswählen.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1000" b="0" baseline="0" dirty="0">
                <a:latin typeface="+mn-lt"/>
              </a:rPr>
              <a:t>Im Hauptbildschirm kann die Fußzeile für alle Folien durch anklicken bearbeitet werden.</a:t>
            </a:r>
            <a:endParaRPr lang="de-DE" sz="1000" b="1" dirty="0">
              <a:latin typeface="+mn-lt"/>
            </a:endParaRPr>
          </a:p>
        </p:txBody>
      </p:sp>
      <p:sp>
        <p:nvSpPr>
          <p:cNvPr id="9" name="Slide Number Placeholder 5"/>
          <p:cNvSpPr txBox="1">
            <a:spLocks/>
          </p:cNvSpPr>
          <p:nvPr/>
        </p:nvSpPr>
        <p:spPr>
          <a:xfrm>
            <a:off x="821094" y="6379201"/>
            <a:ext cx="7093939" cy="430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>
              <a:defRPr lang="de-DE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Team</a:t>
            </a:r>
            <a:r>
              <a:rPr lang="de-DE" sz="1000" baseline="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 </a:t>
            </a:r>
            <a:r>
              <a:rPr lang="de-DE" sz="10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Urbane Energiesysteme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fr-FR" sz="1000" dirty="0" err="1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Lehrstuhl</a:t>
            </a:r>
            <a:r>
              <a:rPr lang="fr-FR" sz="10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 </a:t>
            </a:r>
            <a:r>
              <a:rPr lang="fr-FR" sz="1000" dirty="0" err="1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für</a:t>
            </a:r>
            <a:r>
              <a:rPr lang="fr-FR" sz="10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 </a:t>
            </a:r>
            <a:r>
              <a:rPr lang="fr-FR" sz="1000" dirty="0" err="1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Gebäude</a:t>
            </a:r>
            <a:r>
              <a:rPr lang="fr-FR" sz="10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- </a:t>
            </a:r>
            <a:r>
              <a:rPr lang="fr-FR" sz="1000" dirty="0" err="1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und</a:t>
            </a:r>
            <a:r>
              <a:rPr lang="fr-FR" sz="10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 </a:t>
            </a:r>
            <a:r>
              <a:rPr lang="fr-FR" sz="1000" dirty="0" err="1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Raumklimatechnik</a:t>
            </a:r>
            <a:endParaRPr lang="en-AU" sz="1000" dirty="0">
              <a:solidFill>
                <a:schemeClr val="accent6">
                  <a:lumMod val="75000"/>
                </a:schemeClr>
              </a:solidFill>
              <a:effectLst/>
              <a:latin typeface="+mn-lt"/>
            </a:endParaRPr>
          </a:p>
        </p:txBody>
      </p:sp>
      <p:cxnSp>
        <p:nvCxnSpPr>
          <p:cNvPr id="12" name="Gerader Verbinder 11"/>
          <p:cNvCxnSpPr/>
          <p:nvPr/>
        </p:nvCxnSpPr>
        <p:spPr>
          <a:xfrm>
            <a:off x="383121" y="6300000"/>
            <a:ext cx="11425767" cy="0"/>
          </a:xfrm>
          <a:prstGeom prst="line">
            <a:avLst/>
          </a:prstGeom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/>
          <p:cNvSpPr txBox="1"/>
          <p:nvPr userDrawn="1"/>
        </p:nvSpPr>
        <p:spPr>
          <a:xfrm>
            <a:off x="384003" y="6372005"/>
            <a:ext cx="87418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ABEDA6A0-9FCC-47AA-99A4-88E72C69C2BF}" type="slidenum">
              <a:rPr lang="de-DE" sz="900" smtClean="0">
                <a:solidFill>
                  <a:srgbClr val="9D9EA0"/>
                </a:solidFill>
              </a:rPr>
              <a:t>‹Nr.›</a:t>
            </a:fld>
            <a:endParaRPr lang="de-DE" sz="900" dirty="0">
              <a:solidFill>
                <a:srgbClr val="9D9EA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9" r:id="rId3"/>
    <p:sldLayoutId id="2147483772" r:id="rId4"/>
    <p:sldLayoutId id="2147483760" r:id="rId5"/>
    <p:sldLayoutId id="2147483761" r:id="rId6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6000" indent="-2160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6000" algn="l"/>
        </a:tabLst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2000" indent="-21590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2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8000" indent="-2159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8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160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4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16000" algn="l" rtl="0" eaLnBrk="1" fontAlgn="base" hangingPunct="1">
        <a:lnSpc>
          <a:spcPct val="9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57" userDrawn="1">
          <p15:clr>
            <a:srgbClr val="F26B43"/>
          </p15:clr>
        </p15:guide>
        <p15:guide id="2" orient="horz" pos="2863" userDrawn="1">
          <p15:clr>
            <a:srgbClr val="F26B43"/>
          </p15:clr>
        </p15:guide>
        <p15:guide id="3" pos="241" userDrawn="1">
          <p15:clr>
            <a:srgbClr val="F26B43"/>
          </p15:clr>
        </p15:guide>
        <p15:guide id="4" pos="7439" userDrawn="1">
          <p15:clr>
            <a:srgbClr val="F26B43"/>
          </p15:clr>
        </p15:guide>
        <p15:guide id="5" pos="2600" userDrawn="1">
          <p15:clr>
            <a:srgbClr val="F26B43"/>
          </p15:clr>
        </p15:guide>
        <p15:guide id="6" pos="2752" userDrawn="1">
          <p15:clr>
            <a:srgbClr val="F26B43"/>
          </p15:clr>
        </p15:guide>
        <p15:guide id="7" pos="4928" userDrawn="1">
          <p15:clr>
            <a:srgbClr val="F26B43"/>
          </p15:clr>
        </p15:guide>
        <p15:guide id="8" pos="50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0258837" y="6373630"/>
            <a:ext cx="0" cy="38338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Rechteck 7"/>
          <p:cNvSpPr/>
          <p:nvPr userDrawn="1"/>
        </p:nvSpPr>
        <p:spPr>
          <a:xfrm>
            <a:off x="9013446" y="6375600"/>
            <a:ext cx="0" cy="38338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200" y="6372000"/>
            <a:ext cx="1011600" cy="407267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800" y="6379200"/>
            <a:ext cx="1429200" cy="392400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600" y="6350400"/>
            <a:ext cx="2225067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0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91" r:id="rId3"/>
    <p:sldLayoutId id="2147483792" r:id="rId4"/>
    <p:sldLayoutId id="2147483789" r:id="rId5"/>
    <p:sldLayoutId id="2147483790" r:id="rId6"/>
    <p:sldLayoutId id="2147483779" r:id="rId7"/>
    <p:sldLayoutId id="2147483796" r:id="rId8"/>
    <p:sldLayoutId id="2147483797" r:id="rId9"/>
    <p:sldLayoutId id="2147483773" r:id="rId10"/>
    <p:sldLayoutId id="2147483795" r:id="rId11"/>
    <p:sldLayoutId id="2147483794" r:id="rId12"/>
    <p:sldLayoutId id="2147483798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6000" indent="-2160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6000" algn="l"/>
        </a:tabLst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2000" indent="-21590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2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8000" indent="-2159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8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160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4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16000" algn="l" rtl="0" eaLnBrk="1" fontAlgn="base" hangingPunct="1">
        <a:lnSpc>
          <a:spcPct val="9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57" userDrawn="1">
          <p15:clr>
            <a:srgbClr val="F26B43"/>
          </p15:clr>
        </p15:guide>
        <p15:guide id="2" orient="horz" pos="2863" userDrawn="1">
          <p15:clr>
            <a:srgbClr val="F26B43"/>
          </p15:clr>
        </p15:guide>
        <p15:guide id="3" pos="241" userDrawn="1">
          <p15:clr>
            <a:srgbClr val="F26B43"/>
          </p15:clr>
        </p15:guide>
        <p15:guide id="4" pos="7439" userDrawn="1">
          <p15:clr>
            <a:srgbClr val="F26B43"/>
          </p15:clr>
        </p15:guide>
        <p15:guide id="5" pos="2600" userDrawn="1">
          <p15:clr>
            <a:srgbClr val="F26B43"/>
          </p15:clr>
        </p15:guide>
        <p15:guide id="6" pos="2752" userDrawn="1">
          <p15:clr>
            <a:srgbClr val="F26B43"/>
          </p15:clr>
        </p15:guide>
        <p15:guide id="7" pos="4928" userDrawn="1">
          <p15:clr>
            <a:srgbClr val="F26B43"/>
          </p15:clr>
        </p15:guide>
        <p15:guide id="8" pos="5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From</a:t>
            </a:r>
            <a:r>
              <a:rPr lang="de-DE" dirty="0"/>
              <a:t> Arkadi Butenko</a:t>
            </a:r>
          </a:p>
        </p:txBody>
      </p:sp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Workflow </a:t>
            </a:r>
            <a:r>
              <a:rPr lang="de-DE" dirty="0" err="1"/>
              <a:t>documentation</a:t>
            </a:r>
            <a:r>
              <a:rPr lang="de-DE" dirty="0"/>
              <a:t>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pandapipes</a:t>
            </a:r>
            <a:r>
              <a:rPr lang="de-DE" dirty="0"/>
              <a:t> </a:t>
            </a: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3651753D-5298-4C6C-661E-6B5BDCC53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466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509CAB-781A-FB04-FB1C-8580E937D1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509CAB-781A-FB04-FB1C-8580E937D1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Agenda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882381" y="1121740"/>
            <a:ext cx="8264328" cy="396000"/>
            <a:chOff x="384000" y="1503225"/>
            <a:chExt cx="8264328" cy="396000"/>
          </a:xfrm>
        </p:grpSpPr>
        <p:sp>
          <p:nvSpPr>
            <p:cNvPr id="11" name="Rechteck 10"/>
            <p:cNvSpPr/>
            <p:nvPr/>
          </p:nvSpPr>
          <p:spPr>
            <a:xfrm>
              <a:off x="384000" y="1503225"/>
              <a:ext cx="360000" cy="396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823069" y="1503225"/>
              <a:ext cx="7825259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Important </a:t>
              </a:r>
              <a:r>
                <a:rPr lang="en-US" dirty="0" err="1">
                  <a:solidFill>
                    <a:schemeClr val="tx1"/>
                  </a:solidFill>
                </a:rPr>
                <a:t>dependecies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uppieren 12"/>
          <p:cNvGrpSpPr/>
          <p:nvPr/>
        </p:nvGrpSpPr>
        <p:grpSpPr>
          <a:xfrm>
            <a:off x="883043" y="1953268"/>
            <a:ext cx="8265470" cy="396000"/>
            <a:chOff x="384662" y="2109066"/>
            <a:chExt cx="8265470" cy="396000"/>
          </a:xfrm>
        </p:grpSpPr>
        <p:sp>
          <p:nvSpPr>
            <p:cNvPr id="14" name="Rechteck 13"/>
            <p:cNvSpPr/>
            <p:nvPr/>
          </p:nvSpPr>
          <p:spPr>
            <a:xfrm>
              <a:off x="384662" y="2109066"/>
              <a:ext cx="360000" cy="396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2</a:t>
              </a:r>
              <a:endParaRPr lang="en-US" b="1" dirty="0"/>
            </a:p>
          </p:txBody>
        </p:sp>
        <p:sp>
          <p:nvSpPr>
            <p:cNvPr id="15" name="Rechteck 14"/>
            <p:cNvSpPr/>
            <p:nvPr/>
          </p:nvSpPr>
          <p:spPr>
            <a:xfrm>
              <a:off x="823732" y="2109066"/>
              <a:ext cx="7826400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uppieren 15"/>
          <p:cNvGrpSpPr/>
          <p:nvPr/>
        </p:nvGrpSpPr>
        <p:grpSpPr>
          <a:xfrm>
            <a:off x="882379" y="2778920"/>
            <a:ext cx="9866753" cy="396000"/>
            <a:chOff x="384001" y="2695781"/>
            <a:chExt cx="8265469" cy="396000"/>
          </a:xfrm>
        </p:grpSpPr>
        <p:sp>
          <p:nvSpPr>
            <p:cNvPr id="17" name="Rechteck 16"/>
            <p:cNvSpPr/>
            <p:nvPr/>
          </p:nvSpPr>
          <p:spPr>
            <a:xfrm>
              <a:off x="384001" y="2695781"/>
              <a:ext cx="301575" cy="396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3</a:t>
              </a:r>
              <a:endParaRPr lang="en-US" b="1" dirty="0"/>
            </a:p>
          </p:txBody>
        </p:sp>
        <p:sp>
          <p:nvSpPr>
            <p:cNvPr id="18" name="Rechteck 17"/>
            <p:cNvSpPr/>
            <p:nvPr/>
          </p:nvSpPr>
          <p:spPr>
            <a:xfrm>
              <a:off x="750857" y="2695781"/>
              <a:ext cx="7898613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Simulation run and TEASER use</a:t>
              </a:r>
            </a:p>
          </p:txBody>
        </p:sp>
      </p:grpSp>
      <p:sp>
        <p:nvSpPr>
          <p:cNvPr id="22" name="Rechteck 21"/>
          <p:cNvSpPr/>
          <p:nvPr/>
        </p:nvSpPr>
        <p:spPr>
          <a:xfrm>
            <a:off x="1320309" y="1966602"/>
            <a:ext cx="3275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Minimum input that is required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7BF241-5802-056C-124E-382563B1D39F}"/>
              </a:ext>
            </a:extLst>
          </p:cNvPr>
          <p:cNvSpPr/>
          <p:nvPr/>
        </p:nvSpPr>
        <p:spPr>
          <a:xfrm>
            <a:off x="1320309" y="3515380"/>
            <a:ext cx="9428825" cy="39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86BB607-364D-91D7-52FD-2E161BDC09DF}"/>
              </a:ext>
            </a:extLst>
          </p:cNvPr>
          <p:cNvGrpSpPr/>
          <p:nvPr/>
        </p:nvGrpSpPr>
        <p:grpSpPr>
          <a:xfrm>
            <a:off x="882379" y="3604572"/>
            <a:ext cx="9866753" cy="396000"/>
            <a:chOff x="384001" y="2695781"/>
            <a:chExt cx="8265469" cy="396000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D1C655F4-7A80-8B64-4927-08796933C198}"/>
                </a:ext>
              </a:extLst>
            </p:cNvPr>
            <p:cNvSpPr/>
            <p:nvPr/>
          </p:nvSpPr>
          <p:spPr>
            <a:xfrm>
              <a:off x="384001" y="2695781"/>
              <a:ext cx="301575" cy="396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6E6C9945-1CDA-A79C-7E21-C8B8400B1FC5}"/>
                </a:ext>
              </a:extLst>
            </p:cNvPr>
            <p:cNvSpPr/>
            <p:nvPr/>
          </p:nvSpPr>
          <p:spPr>
            <a:xfrm>
              <a:off x="750857" y="2695781"/>
              <a:ext cx="7898613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Simulation </a:t>
              </a:r>
              <a:r>
                <a:rPr lang="de-DE" dirty="0" err="1">
                  <a:solidFill>
                    <a:schemeClr val="tx1"/>
                  </a:solidFill>
                </a:rPr>
                <a:t>results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143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10FB296-C92A-91DF-3C73-B261C8BD1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047" y="54534"/>
            <a:ext cx="667459" cy="640266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2C9AAB-44FD-CD8D-4989-8D3BDC54D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22" y="871200"/>
            <a:ext cx="11424000" cy="52920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de-DE" b="1" dirty="0" err="1"/>
              <a:t>Required</a:t>
            </a:r>
            <a:r>
              <a:rPr lang="de-DE" b="1" dirty="0"/>
              <a:t> </a:t>
            </a:r>
            <a:r>
              <a:rPr lang="de-DE" b="1" dirty="0" err="1"/>
              <a:t>installation</a:t>
            </a:r>
            <a:r>
              <a:rPr lang="de-DE" b="1" dirty="0"/>
              <a:t> </a:t>
            </a:r>
            <a:r>
              <a:rPr lang="de-DE" b="1" dirty="0" err="1"/>
              <a:t>if</a:t>
            </a:r>
            <a:r>
              <a:rPr lang="de-DE" b="1" dirty="0"/>
              <a:t> not </a:t>
            </a:r>
            <a:r>
              <a:rPr lang="de-DE" b="1" dirty="0" err="1"/>
              <a:t>already</a:t>
            </a:r>
            <a:r>
              <a:rPr lang="de-DE" b="1" dirty="0"/>
              <a:t> </a:t>
            </a:r>
            <a:r>
              <a:rPr lang="de-DE" b="1" dirty="0" err="1"/>
              <a:t>done</a:t>
            </a:r>
            <a:r>
              <a:rPr lang="de-DE" b="1" dirty="0"/>
              <a:t>: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Pandapipes</a:t>
            </a:r>
            <a:r>
              <a:rPr lang="de-DE" dirty="0"/>
              <a:t> </a:t>
            </a:r>
            <a:r>
              <a:rPr lang="de-DE" dirty="0" err="1"/>
              <a:t>installation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0.13.0</a:t>
            </a:r>
          </a:p>
          <a:p>
            <a:pPr>
              <a:lnSpc>
                <a:spcPct val="150000"/>
              </a:lnSpc>
            </a:pPr>
            <a:r>
              <a:rPr lang="de-DE" dirty="0"/>
              <a:t>TEASER </a:t>
            </a:r>
            <a:r>
              <a:rPr lang="de-DE" dirty="0" err="1"/>
              <a:t>version</a:t>
            </a:r>
            <a:r>
              <a:rPr lang="de-DE" dirty="0"/>
              <a:t> 1.3.1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Dymola</a:t>
            </a:r>
            <a:r>
              <a:rPr lang="de-DE" dirty="0"/>
              <a:t> interface </a:t>
            </a:r>
            <a:r>
              <a:rPr lang="de-DE" dirty="0" err="1"/>
              <a:t>installation</a:t>
            </a:r>
            <a:r>
              <a:rPr lang="de-DE" dirty="0"/>
              <a:t> for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of TEASER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Search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installation</a:t>
            </a:r>
            <a:r>
              <a:rPr lang="de-DE" dirty="0"/>
              <a:t> </a:t>
            </a:r>
            <a:r>
              <a:rPr lang="de-DE" dirty="0" err="1"/>
              <a:t>Dymola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 C:\Program Files\</a:t>
            </a:r>
            <a:r>
              <a:rPr lang="de-DE" i="1" dirty="0"/>
              <a:t>YOUR_DYMOLA_FOLDER</a:t>
            </a:r>
            <a:r>
              <a:rPr lang="de-DE" dirty="0"/>
              <a:t>\</a:t>
            </a:r>
            <a:r>
              <a:rPr lang="de-DE" dirty="0" err="1"/>
              <a:t>Modelica</a:t>
            </a:r>
            <a:r>
              <a:rPr lang="de-DE" dirty="0"/>
              <a:t>\Library\</a:t>
            </a:r>
            <a:r>
              <a:rPr lang="de-DE" dirty="0" err="1"/>
              <a:t>python_interface</a:t>
            </a:r>
            <a:r>
              <a:rPr lang="de-DE" dirty="0"/>
              <a:t> for a .</a:t>
            </a:r>
            <a:r>
              <a:rPr lang="de-DE" dirty="0" err="1"/>
              <a:t>whl</a:t>
            </a:r>
            <a:r>
              <a:rPr lang="de-DE" dirty="0"/>
              <a:t> for </a:t>
            </a:r>
            <a:r>
              <a:rPr lang="de-DE" dirty="0" err="1"/>
              <a:t>installation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pip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Possible </a:t>
            </a:r>
            <a:r>
              <a:rPr lang="de-DE" dirty="0" err="1"/>
              <a:t>problems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occur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in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a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numpy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pandapipes</a:t>
            </a:r>
            <a:r>
              <a:rPr lang="de-DE" dirty="0"/>
              <a:t> </a:t>
            </a:r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&gt;=1.26 and &lt;2.4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22CB80-7F76-74A6-02DD-2ACDFA07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 err="1"/>
              <a:t>Important</a:t>
            </a:r>
            <a:r>
              <a:rPr lang="de-DE" u="sng" dirty="0"/>
              <a:t> </a:t>
            </a:r>
            <a:r>
              <a:rPr lang="de-DE" u="sng" dirty="0" err="1"/>
              <a:t>dependencies</a:t>
            </a:r>
            <a:endParaRPr lang="de-DE" u="sng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6DE1FA4-B18B-DF1D-05C3-C00102092003}"/>
              </a:ext>
            </a:extLst>
          </p:cNvPr>
          <p:cNvSpPr/>
          <p:nvPr/>
        </p:nvSpPr>
        <p:spPr>
          <a:xfrm>
            <a:off x="23121" y="298800"/>
            <a:ext cx="360000" cy="3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1131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C8D7-FEEA-6CDB-4D9D-30F6B435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3D17029-0EAC-2AF6-238C-2E23F498C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047" y="54534"/>
            <a:ext cx="667459" cy="640266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151B26-B898-89F5-2D30-3A9FD83A26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22" y="871200"/>
            <a:ext cx="9985379" cy="529200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de-DE" dirty="0"/>
              <a:t>To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uesgraphs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:</a:t>
            </a:r>
          </a:p>
          <a:p>
            <a:r>
              <a:rPr lang="de-DE" dirty="0" err="1"/>
              <a:t>network.geojson</a:t>
            </a:r>
            <a:endParaRPr lang="de-DE" dirty="0"/>
          </a:p>
          <a:p>
            <a:r>
              <a:rPr lang="de-DE" dirty="0" err="1"/>
              <a:t>Buildings.geojson</a:t>
            </a:r>
            <a:endParaRPr lang="de-DE" dirty="0"/>
          </a:p>
          <a:p>
            <a:r>
              <a:rPr lang="de-DE" dirty="0" err="1"/>
              <a:t>Supply.geojson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With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constructed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To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TEASER </a:t>
            </a:r>
            <a:r>
              <a:rPr lang="de-DE" dirty="0" err="1"/>
              <a:t>demand</a:t>
            </a:r>
            <a:r>
              <a:rPr lang="de-DE" dirty="0"/>
              <a:t> </a:t>
            </a:r>
            <a:r>
              <a:rPr lang="de-DE" dirty="0" err="1"/>
              <a:t>estimation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:</a:t>
            </a:r>
          </a:p>
          <a:p>
            <a:r>
              <a:rPr lang="de-DE" dirty="0" err="1"/>
              <a:t>Buildings.geojson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for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that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for TEASER, check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buildings.geojson</a:t>
            </a:r>
            <a:r>
              <a:rPr lang="de-DE" dirty="0"/>
              <a:t> to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minimum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archetype; </a:t>
            </a:r>
            <a:r>
              <a:rPr lang="de-DE" dirty="0" err="1"/>
              <a:t>year_of_construction</a:t>
            </a:r>
            <a:r>
              <a:rPr lang="de-DE" dirty="0"/>
              <a:t>; </a:t>
            </a:r>
            <a:r>
              <a:rPr lang="de-DE" dirty="0" err="1"/>
              <a:t>number_of_floors</a:t>
            </a:r>
            <a:r>
              <a:rPr lang="de-DE" dirty="0"/>
              <a:t>; </a:t>
            </a:r>
            <a:r>
              <a:rPr lang="de-DE" dirty="0" err="1"/>
              <a:t>height_of_floors</a:t>
            </a:r>
            <a:r>
              <a:rPr lang="de-DE" dirty="0"/>
              <a:t>; </a:t>
            </a:r>
            <a:r>
              <a:rPr lang="de-DE" dirty="0" err="1"/>
              <a:t>net_leased_area</a:t>
            </a:r>
            <a:r>
              <a:rPr lang="de-DE" dirty="0"/>
              <a:t>; </a:t>
            </a:r>
            <a:r>
              <a:rPr lang="de-DE" dirty="0" err="1"/>
              <a:t>with_ahu</a:t>
            </a:r>
            <a:r>
              <a:rPr lang="de-DE" dirty="0"/>
              <a:t>; </a:t>
            </a:r>
            <a:r>
              <a:rPr lang="de-DE" dirty="0" err="1"/>
              <a:t>internal_gains_mode</a:t>
            </a:r>
            <a:endParaRPr lang="de-DE" dirty="0"/>
          </a:p>
          <a:p>
            <a:pPr lvl="2"/>
            <a:r>
              <a:rPr lang="de-DE" dirty="0"/>
              <a:t>Check </a:t>
            </a:r>
            <a:r>
              <a:rPr lang="de-DE" dirty="0" err="1"/>
              <a:t>the</a:t>
            </a:r>
            <a:r>
              <a:rPr lang="de-DE" dirty="0"/>
              <a:t> TEASER </a:t>
            </a:r>
            <a:r>
              <a:rPr lang="de-DE" dirty="0" err="1"/>
              <a:t>documentation</a:t>
            </a:r>
            <a:r>
              <a:rPr lang="de-DE" dirty="0"/>
              <a:t> for </a:t>
            </a:r>
            <a:r>
              <a:rPr lang="de-DE" dirty="0" err="1"/>
              <a:t>detailed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that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317083-DDA2-8310-629A-D3B2AAA0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Minimum </a:t>
            </a:r>
            <a:r>
              <a:rPr lang="de-DE" dirty="0" err="1"/>
              <a:t>input</a:t>
            </a:r>
            <a:r>
              <a:rPr lang="de-DE" dirty="0"/>
              <a:t> that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u="sng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D80F9E-FB96-4E03-225F-60B23AE5DE26}"/>
              </a:ext>
            </a:extLst>
          </p:cNvPr>
          <p:cNvSpPr/>
          <p:nvPr/>
        </p:nvSpPr>
        <p:spPr>
          <a:xfrm>
            <a:off x="23121" y="298800"/>
            <a:ext cx="360000" cy="3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2904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1B73-60EC-EF1A-5986-2351C28C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FA08D81F-1B22-EEF8-8434-8B8A7E246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047" y="54534"/>
            <a:ext cx="667459" cy="640266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9703A8-4964-4DE4-F793-8DE043DAC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22" y="871200"/>
            <a:ext cx="9985379" cy="529200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de-DE" dirty="0"/>
              <a:t>To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pandapipes</a:t>
            </a:r>
            <a:r>
              <a:rPr lang="de-DE" dirty="0"/>
              <a:t> </a:t>
            </a:r>
            <a:r>
              <a:rPr lang="de-DE" dirty="0" err="1"/>
              <a:t>simulations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in uesgraphs_template_pp.xlsx:</a:t>
            </a:r>
          </a:p>
          <a:p>
            <a:r>
              <a:rPr lang="de-DE" dirty="0"/>
              <a:t>Simulation </a:t>
            </a:r>
            <a:r>
              <a:rPr lang="de-DE" dirty="0" err="1"/>
              <a:t>sheet</a:t>
            </a:r>
            <a:endParaRPr lang="de-DE" dirty="0"/>
          </a:p>
          <a:p>
            <a:pPr lvl="1"/>
            <a:r>
              <a:rPr lang="de-DE" dirty="0" err="1"/>
              <a:t>Stop_time</a:t>
            </a:r>
            <a:r>
              <a:rPr lang="de-DE" dirty="0"/>
              <a:t>; </a:t>
            </a:r>
            <a:r>
              <a:rPr lang="de-DE" dirty="0" err="1"/>
              <a:t>timestep</a:t>
            </a:r>
            <a:r>
              <a:rPr lang="de-DE" dirty="0"/>
              <a:t>; </a:t>
            </a:r>
            <a:r>
              <a:rPr lang="de-DE" dirty="0" err="1"/>
              <a:t>mode</a:t>
            </a:r>
            <a:r>
              <a:rPr lang="de-DE" dirty="0"/>
              <a:t>; </a:t>
            </a:r>
            <a:r>
              <a:rPr lang="de-DE" dirty="0" err="1"/>
              <a:t>ground_depth</a:t>
            </a:r>
            <a:endParaRPr lang="de-DE" dirty="0"/>
          </a:p>
          <a:p>
            <a:r>
              <a:rPr lang="de-DE" dirty="0" err="1"/>
              <a:t>Demands</a:t>
            </a:r>
            <a:r>
              <a:rPr lang="de-DE" dirty="0"/>
              <a:t> </a:t>
            </a:r>
            <a:r>
              <a:rPr lang="de-DE" dirty="0" err="1"/>
              <a:t>sheet</a:t>
            </a:r>
            <a:endParaRPr lang="de-DE" dirty="0"/>
          </a:p>
          <a:p>
            <a:pPr lvl="1"/>
            <a:r>
              <a:rPr lang="de-DE" dirty="0" err="1"/>
              <a:t>dTNetwork</a:t>
            </a:r>
            <a:r>
              <a:rPr lang="de-DE" dirty="0"/>
              <a:t>; </a:t>
            </a:r>
            <a:r>
              <a:rPr lang="de-DE" dirty="0" err="1"/>
              <a:t>TReturn</a:t>
            </a:r>
            <a:endParaRPr lang="de-DE" dirty="0"/>
          </a:p>
          <a:p>
            <a:r>
              <a:rPr lang="de-DE" dirty="0"/>
              <a:t>Supply </a:t>
            </a:r>
            <a:r>
              <a:rPr lang="de-DE" dirty="0" err="1"/>
              <a:t>sheet</a:t>
            </a:r>
            <a:endParaRPr lang="de-DE" dirty="0"/>
          </a:p>
          <a:p>
            <a:pPr lvl="1"/>
            <a:r>
              <a:rPr lang="de-DE" dirty="0" err="1"/>
              <a:t>pIn</a:t>
            </a:r>
            <a:r>
              <a:rPr lang="de-DE" dirty="0"/>
              <a:t>; </a:t>
            </a:r>
            <a:r>
              <a:rPr lang="de-DE" dirty="0" err="1"/>
              <a:t>dpFlow</a:t>
            </a:r>
            <a:r>
              <a:rPr lang="de-DE" dirty="0"/>
              <a:t>; </a:t>
            </a:r>
            <a:r>
              <a:rPr lang="de-DE" dirty="0" err="1"/>
              <a:t>pReturn</a:t>
            </a:r>
            <a:r>
              <a:rPr lang="de-DE" dirty="0"/>
              <a:t>; </a:t>
            </a:r>
            <a:r>
              <a:rPr lang="de-DE" dirty="0" err="1"/>
              <a:t>TIn</a:t>
            </a:r>
            <a:r>
              <a:rPr lang="de-DE" dirty="0"/>
              <a:t>; </a:t>
            </a:r>
            <a:r>
              <a:rPr lang="de-DE" dirty="0" err="1"/>
              <a:t>Treturn</a:t>
            </a:r>
            <a:r>
              <a:rPr lang="de-DE" dirty="0"/>
              <a:t> (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as</a:t>
            </a:r>
            <a:r>
              <a:rPr lang="de-DE" dirty="0"/>
              <a:t> in </a:t>
            </a:r>
            <a:r>
              <a:rPr lang="de-DE" dirty="0" err="1"/>
              <a:t>demands</a:t>
            </a:r>
            <a:r>
              <a:rPr lang="de-DE" dirty="0"/>
              <a:t> </a:t>
            </a:r>
            <a:r>
              <a:rPr lang="de-DE" dirty="0" err="1"/>
              <a:t>sheet</a:t>
            </a:r>
            <a:r>
              <a:rPr lang="de-DE" dirty="0"/>
              <a:t>)</a:t>
            </a:r>
          </a:p>
          <a:p>
            <a:r>
              <a:rPr lang="de-DE" dirty="0"/>
              <a:t>Pipes </a:t>
            </a:r>
            <a:r>
              <a:rPr lang="de-DE" dirty="0" err="1"/>
              <a:t>sheet</a:t>
            </a:r>
            <a:endParaRPr lang="de-DE" dirty="0"/>
          </a:p>
          <a:p>
            <a:pPr lvl="1"/>
            <a:r>
              <a:rPr lang="de-DE" dirty="0" err="1"/>
              <a:t>dIns</a:t>
            </a:r>
            <a:r>
              <a:rPr lang="de-DE" dirty="0"/>
              <a:t>; </a:t>
            </a:r>
            <a:r>
              <a:rPr lang="de-DE" dirty="0" err="1"/>
              <a:t>kIns</a:t>
            </a:r>
            <a:r>
              <a:rPr lang="de-DE" dirty="0"/>
              <a:t>; </a:t>
            </a:r>
            <a:r>
              <a:rPr lang="de-DE" dirty="0" err="1"/>
              <a:t>roughness</a:t>
            </a:r>
            <a:r>
              <a:rPr lang="de-DE" dirty="0"/>
              <a:t>; </a:t>
            </a:r>
            <a:r>
              <a:rPr lang="de-DE" dirty="0" err="1"/>
              <a:t>ground_depth</a:t>
            </a:r>
            <a:r>
              <a:rPr lang="de-DE" dirty="0"/>
              <a:t>(</a:t>
            </a:r>
            <a:r>
              <a:rPr lang="de-DE" dirty="0" err="1"/>
              <a:t>again</a:t>
            </a:r>
            <a:r>
              <a:rPr lang="de-DE" dirty="0"/>
              <a:t> same </a:t>
            </a:r>
            <a:r>
              <a:rPr lang="de-DE" dirty="0" err="1"/>
              <a:t>as</a:t>
            </a:r>
            <a:r>
              <a:rPr lang="de-DE" dirty="0"/>
              <a:t> in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sheet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for a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run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Important</a:t>
            </a:r>
            <a:r>
              <a:rPr lang="de-DE" b="1" dirty="0"/>
              <a:t> last </a:t>
            </a:r>
            <a:r>
              <a:rPr lang="de-DE" b="1" dirty="0" err="1"/>
              <a:t>file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ground_temperatures,csv</a:t>
            </a:r>
            <a:r>
              <a:rPr lang="de-DE" b="1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time,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provided</a:t>
            </a:r>
            <a:br>
              <a:rPr lang="de-DE" dirty="0"/>
            </a:b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36EB8A-CA87-26BE-D036-29BA3992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Minimum </a:t>
            </a:r>
            <a:r>
              <a:rPr lang="de-DE" dirty="0" err="1"/>
              <a:t>input</a:t>
            </a:r>
            <a:r>
              <a:rPr lang="de-DE" dirty="0"/>
              <a:t> that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u="sng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9884253-AEEF-5737-C33A-6191E12EF11C}"/>
              </a:ext>
            </a:extLst>
          </p:cNvPr>
          <p:cNvSpPr/>
          <p:nvPr/>
        </p:nvSpPr>
        <p:spPr>
          <a:xfrm>
            <a:off x="23121" y="298800"/>
            <a:ext cx="360000" cy="3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5212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DD44C-905A-5EF7-2AA6-0778A3A9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1705C750-2813-D782-DE7A-74AE3624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047" y="54534"/>
            <a:ext cx="667459" cy="640266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FC7366-DCC0-6231-AFF5-6354B29DA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23" y="871200"/>
            <a:ext cx="5912169" cy="5292000"/>
          </a:xfrm>
          <a:ln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Check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out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„e18_teaser_integration_pandapipes_sim.py“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de-DE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You will </a:t>
            </a:r>
            <a:r>
              <a:rPr lang="de-DE" dirty="0" err="1"/>
              <a:t>see</a:t>
            </a:r>
            <a:r>
              <a:rPr lang="de-DE" dirty="0"/>
              <a:t> a </a:t>
            </a:r>
            <a:r>
              <a:rPr lang="de-DE" dirty="0" err="1"/>
              <a:t>workflow</a:t>
            </a:r>
            <a:r>
              <a:rPr lang="de-DE" dirty="0"/>
              <a:t> that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to follow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that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called</a:t>
            </a:r>
            <a:r>
              <a:rPr lang="de-DE" dirty="0"/>
              <a:t> and </a:t>
            </a:r>
            <a:r>
              <a:rPr lang="de-DE" dirty="0" err="1"/>
              <a:t>set</a:t>
            </a:r>
            <a:r>
              <a:rPr lang="de-DE" dirty="0"/>
              <a:t> to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pandapipes</a:t>
            </a:r>
            <a:r>
              <a:rPr lang="de-DE" dirty="0"/>
              <a:t> </a:t>
            </a:r>
            <a:r>
              <a:rPr lang="de-DE" dirty="0" err="1"/>
              <a:t>simulations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TEASER </a:t>
            </a:r>
            <a:r>
              <a:rPr lang="de-DE" dirty="0" err="1"/>
              <a:t>integration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uesgraphs</a:t>
            </a:r>
            <a:endParaRPr lang="de-DE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de-DE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The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require</a:t>
            </a:r>
            <a:r>
              <a:rPr lang="de-DE" dirty="0"/>
              <a:t> </a:t>
            </a:r>
            <a:r>
              <a:rPr lang="de-DE" dirty="0" err="1"/>
              <a:t>setting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paths</a:t>
            </a:r>
            <a:r>
              <a:rPr lang="de-DE" dirty="0"/>
              <a:t> to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, </a:t>
            </a:r>
            <a:r>
              <a:rPr lang="de-DE" dirty="0" err="1"/>
              <a:t>calling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TEASER </a:t>
            </a:r>
            <a:r>
              <a:rPr lang="de-DE" dirty="0" err="1"/>
              <a:t>integration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, </a:t>
            </a:r>
            <a:r>
              <a:rPr lang="de-DE" dirty="0" err="1"/>
              <a:t>creating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and </a:t>
            </a:r>
            <a:r>
              <a:rPr lang="de-DE" dirty="0" err="1"/>
              <a:t>running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de-DE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24A9DF-976A-9D44-925A-E67FB00EB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 </a:t>
            </a:r>
            <a:r>
              <a:rPr lang="de-DE" dirty="0" err="1"/>
              <a:t>run</a:t>
            </a:r>
            <a:r>
              <a:rPr lang="de-DE" dirty="0"/>
              <a:t> and TEASER </a:t>
            </a:r>
            <a:r>
              <a:rPr lang="de-DE" dirty="0" err="1"/>
              <a:t>use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A3ED95-0510-7FFE-3139-21449C72F346}"/>
              </a:ext>
            </a:extLst>
          </p:cNvPr>
          <p:cNvSpPr/>
          <p:nvPr/>
        </p:nvSpPr>
        <p:spPr>
          <a:xfrm>
            <a:off x="23121" y="298800"/>
            <a:ext cx="360000" cy="3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BD28D9-DD56-0F88-21A5-1DA55EFAA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954" y="1103910"/>
            <a:ext cx="5046776" cy="77303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E0D1893-0A29-EF5B-89F7-C4C0E0CBE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954" y="2178243"/>
            <a:ext cx="5046776" cy="81327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53373D7-A529-C797-AD2F-C6FDBE2B3A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954" y="3292824"/>
            <a:ext cx="5046776" cy="89289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D634D7A-14FD-1175-738D-D771BC87D2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953" y="4334422"/>
            <a:ext cx="5046777" cy="182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6E35-1735-5695-E720-6385853E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3E956EFC-DDA7-38A9-B284-DEFDE867C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047" y="54534"/>
            <a:ext cx="667459" cy="640266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2B8024-D2B3-B8FF-6D96-7113DD7CA6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21" y="871200"/>
            <a:ext cx="7600293" cy="52920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de-DE" dirty="0">
                <a:sym typeface="Wingdings" panose="05000000000000000000" pitchFamily="2" charset="2"/>
              </a:rPr>
              <a:t>The </a:t>
            </a:r>
            <a:r>
              <a:rPr lang="de-DE" dirty="0" err="1">
                <a:sym typeface="Wingdings" panose="05000000000000000000" pitchFamily="2" charset="2"/>
              </a:rPr>
              <a:t>following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results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obtained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simulation</a:t>
            </a:r>
            <a:r>
              <a:rPr lang="de-DE" dirty="0">
                <a:sym typeface="Wingdings" panose="05000000000000000000" pitchFamily="2" charset="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de-DE" b="1" dirty="0" err="1">
                <a:sym typeface="Wingdings" panose="05000000000000000000" pitchFamily="2" charset="2"/>
              </a:rPr>
              <a:t>Mass</a:t>
            </a:r>
            <a:r>
              <a:rPr lang="de-DE" b="1" dirty="0">
                <a:sym typeface="Wingdings" panose="05000000000000000000" pitchFamily="2" charset="2"/>
              </a:rPr>
              <a:t> </a:t>
            </a:r>
            <a:r>
              <a:rPr lang="de-DE" b="1" dirty="0" err="1">
                <a:sym typeface="Wingdings" panose="05000000000000000000" pitchFamily="2" charset="2"/>
              </a:rPr>
              <a:t>flows</a:t>
            </a:r>
            <a:r>
              <a:rPr lang="de-DE" b="1" dirty="0"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and </a:t>
            </a:r>
            <a:r>
              <a:rPr lang="de-DE" b="1" dirty="0" err="1">
                <a:sym typeface="Wingdings" panose="05000000000000000000" pitchFamily="2" charset="2"/>
              </a:rPr>
              <a:t>pressure</a:t>
            </a:r>
            <a:r>
              <a:rPr lang="de-DE" b="1" dirty="0">
                <a:sym typeface="Wingdings" panose="05000000000000000000" pitchFamily="2" charset="2"/>
              </a:rPr>
              <a:t> </a:t>
            </a:r>
            <a:r>
              <a:rPr lang="de-DE" b="1" dirty="0" err="1">
                <a:sym typeface="Wingdings" panose="05000000000000000000" pitchFamily="2" charset="2"/>
              </a:rPr>
              <a:t>differences</a:t>
            </a:r>
            <a:r>
              <a:rPr lang="de-DE" b="1" dirty="0"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at </a:t>
            </a:r>
            <a:r>
              <a:rPr lang="de-DE" dirty="0" err="1">
                <a:sym typeface="Wingdings" panose="05000000000000000000" pitchFamily="2" charset="2"/>
              </a:rPr>
              <a:t>edges</a:t>
            </a:r>
            <a:r>
              <a:rPr lang="de-DE" dirty="0">
                <a:sym typeface="Wingdings" panose="05000000000000000000" pitchFamily="2" charset="2"/>
              </a:rPr>
              <a:t> of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network </a:t>
            </a:r>
          </a:p>
          <a:p>
            <a:pPr>
              <a:lnSpc>
                <a:spcPct val="150000"/>
              </a:lnSpc>
            </a:pPr>
            <a:r>
              <a:rPr lang="de-DE" b="1" dirty="0">
                <a:sym typeface="Wingdings" panose="05000000000000000000" pitchFamily="2" charset="2"/>
              </a:rPr>
              <a:t>Pressures</a:t>
            </a:r>
            <a:r>
              <a:rPr lang="de-DE" dirty="0">
                <a:sym typeface="Wingdings" panose="05000000000000000000" pitchFamily="2" charset="2"/>
              </a:rPr>
              <a:t> and </a:t>
            </a:r>
            <a:r>
              <a:rPr lang="de-DE" b="1" dirty="0" err="1">
                <a:sym typeface="Wingdings" panose="05000000000000000000" pitchFamily="2" charset="2"/>
              </a:rPr>
              <a:t>temperatures</a:t>
            </a:r>
            <a:r>
              <a:rPr lang="de-DE" dirty="0">
                <a:sym typeface="Wingdings" panose="05000000000000000000" pitchFamily="2" charset="2"/>
              </a:rPr>
              <a:t> at </a:t>
            </a:r>
            <a:r>
              <a:rPr lang="de-DE" dirty="0" err="1">
                <a:sym typeface="Wingdings" panose="05000000000000000000" pitchFamily="2" charset="2"/>
              </a:rPr>
              <a:t>nodes</a:t>
            </a:r>
            <a:r>
              <a:rPr lang="de-DE" dirty="0">
                <a:sym typeface="Wingdings" panose="05000000000000000000" pitchFamily="2" charset="2"/>
              </a:rPr>
              <a:t> of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network</a:t>
            </a:r>
          </a:p>
          <a:p>
            <a:pPr>
              <a:lnSpc>
                <a:spcPct val="150000"/>
              </a:lnSpc>
            </a:pPr>
            <a:r>
              <a:rPr lang="de-DE" b="1" dirty="0"/>
              <a:t>Pressures</a:t>
            </a:r>
            <a:r>
              <a:rPr lang="de-DE" dirty="0"/>
              <a:t>, </a:t>
            </a:r>
            <a:r>
              <a:rPr lang="de-DE" b="1" dirty="0" err="1"/>
              <a:t>temperatures</a:t>
            </a:r>
            <a:r>
              <a:rPr lang="de-DE" dirty="0"/>
              <a:t> and </a:t>
            </a:r>
            <a:r>
              <a:rPr lang="de-DE" b="1" dirty="0" err="1"/>
              <a:t>mass</a:t>
            </a:r>
            <a:r>
              <a:rPr lang="de-DE" dirty="0"/>
              <a:t> </a:t>
            </a:r>
            <a:r>
              <a:rPr lang="de-DE" b="1" dirty="0" err="1"/>
              <a:t>flows</a:t>
            </a:r>
            <a:r>
              <a:rPr lang="de-DE" dirty="0"/>
              <a:t> of </a:t>
            </a:r>
            <a:r>
              <a:rPr lang="de-DE" dirty="0" err="1"/>
              <a:t>heat</a:t>
            </a:r>
            <a:r>
              <a:rPr lang="de-DE" dirty="0"/>
              <a:t> </a:t>
            </a:r>
            <a:r>
              <a:rPr lang="de-DE" dirty="0" err="1"/>
              <a:t>consumers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 err="1"/>
              <a:t>Temperatures</a:t>
            </a:r>
            <a:r>
              <a:rPr lang="de-DE" dirty="0"/>
              <a:t>, </a:t>
            </a:r>
            <a:r>
              <a:rPr lang="de-DE" b="1" dirty="0" err="1"/>
              <a:t>mass</a:t>
            </a:r>
            <a:r>
              <a:rPr lang="de-DE" dirty="0"/>
              <a:t> </a:t>
            </a:r>
            <a:r>
              <a:rPr lang="de-DE" b="1" dirty="0" err="1"/>
              <a:t>flow</a:t>
            </a:r>
            <a:r>
              <a:rPr lang="de-DE" dirty="0"/>
              <a:t> and </a:t>
            </a:r>
            <a:r>
              <a:rPr lang="de-DE" b="1" dirty="0"/>
              <a:t>thermal </a:t>
            </a:r>
            <a:r>
              <a:rPr lang="de-DE" b="1" dirty="0" err="1"/>
              <a:t>energy</a:t>
            </a:r>
            <a:r>
              <a:rPr lang="de-DE" b="1" dirty="0"/>
              <a:t> </a:t>
            </a:r>
            <a:r>
              <a:rPr lang="de-DE" b="1" dirty="0" err="1"/>
              <a:t>consumption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pumps</a:t>
            </a:r>
            <a:r>
              <a:rPr lang="de-DE" dirty="0"/>
              <a:t> 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Uesgraphs.json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Supply </a:t>
            </a:r>
            <a:r>
              <a:rPr lang="de-DE" dirty="0" err="1">
                <a:sym typeface="Wingdings" panose="05000000000000000000" pitchFamily="2" charset="2"/>
              </a:rPr>
              <a:t>side</a:t>
            </a:r>
            <a:r>
              <a:rPr lang="de-DE" dirty="0">
                <a:sym typeface="Wingdings" panose="05000000000000000000" pitchFamily="2" charset="2"/>
              </a:rPr>
              <a:t> (</a:t>
            </a:r>
            <a:r>
              <a:rPr lang="de-DE" dirty="0" err="1">
                <a:sym typeface="Wingdings" panose="05000000000000000000" pitchFamily="2" charset="2"/>
              </a:rPr>
              <a:t>From</a:t>
            </a:r>
            <a:r>
              <a:rPr lang="de-DE" dirty="0">
                <a:sym typeface="Wingdings" panose="05000000000000000000" pitchFamily="2" charset="2"/>
              </a:rPr>
              <a:t> Supply </a:t>
            </a:r>
            <a:r>
              <a:rPr lang="de-DE" dirty="0" err="1">
                <a:sym typeface="Wingdings" panose="05000000000000000000" pitchFamily="2" charset="2"/>
              </a:rPr>
              <a:t>pumps</a:t>
            </a:r>
            <a:r>
              <a:rPr lang="de-DE" dirty="0">
                <a:sym typeface="Wingdings" panose="05000000000000000000" pitchFamily="2" charset="2"/>
              </a:rPr>
              <a:t> to </a:t>
            </a:r>
            <a:r>
              <a:rPr lang="de-DE" dirty="0" err="1">
                <a:sym typeface="Wingdings" panose="05000000000000000000" pitchFamily="2" charset="2"/>
              </a:rPr>
              <a:t>heat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consumers</a:t>
            </a:r>
            <a:r>
              <a:rPr lang="de-DE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de-DE" dirty="0" err="1">
                <a:sym typeface="Wingdings" panose="05000000000000000000" pitchFamily="2" charset="2"/>
              </a:rPr>
              <a:t>Uesgraphs_return.json</a:t>
            </a:r>
            <a:r>
              <a:rPr lang="de-DE" dirty="0">
                <a:sym typeface="Wingdings" panose="05000000000000000000" pitchFamily="2" charset="2"/>
              </a:rPr>
              <a:t>  Return </a:t>
            </a:r>
            <a:r>
              <a:rPr lang="de-DE" dirty="0" err="1">
                <a:sym typeface="Wingdings" panose="05000000000000000000" pitchFamily="2" charset="2"/>
              </a:rPr>
              <a:t>side</a:t>
            </a:r>
            <a:r>
              <a:rPr lang="de-DE" dirty="0">
                <a:sym typeface="Wingdings" panose="05000000000000000000" pitchFamily="2" charset="2"/>
              </a:rPr>
              <a:t> (</a:t>
            </a:r>
            <a:r>
              <a:rPr lang="de-DE" dirty="0" err="1">
                <a:sym typeface="Wingdings" panose="05000000000000000000" pitchFamily="2" charset="2"/>
              </a:rPr>
              <a:t>From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heat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consumers</a:t>
            </a:r>
            <a:r>
              <a:rPr lang="de-DE" dirty="0">
                <a:sym typeface="Wingdings" panose="05000000000000000000" pitchFamily="2" charset="2"/>
              </a:rPr>
              <a:t> to </a:t>
            </a:r>
            <a:r>
              <a:rPr lang="de-DE" dirty="0" err="1">
                <a:sym typeface="Wingdings" panose="05000000000000000000" pitchFamily="2" charset="2"/>
              </a:rPr>
              <a:t>pumps</a:t>
            </a:r>
            <a:r>
              <a:rPr lang="de-DE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de-DE" dirty="0">
                <a:sym typeface="Wingdings" panose="05000000000000000000" pitchFamily="2" charset="2"/>
              </a:rPr>
              <a:t>Both .</a:t>
            </a:r>
            <a:r>
              <a:rPr lang="de-DE" dirty="0" err="1">
                <a:sym typeface="Wingdings" panose="05000000000000000000" pitchFamily="2" charset="2"/>
              </a:rPr>
              <a:t>jsons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have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saved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results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lists</a:t>
            </a:r>
            <a:r>
              <a:rPr lang="de-DE" dirty="0">
                <a:sym typeface="Wingdings" panose="05000000000000000000" pitchFamily="2" charset="2"/>
              </a:rPr>
              <a:t> for </a:t>
            </a:r>
            <a:r>
              <a:rPr lang="de-DE" dirty="0" err="1">
                <a:sym typeface="Wingdings" panose="05000000000000000000" pitchFamily="2" charset="2"/>
              </a:rPr>
              <a:t>each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simulation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timestep</a:t>
            </a:r>
            <a:r>
              <a:rPr lang="de-DE" dirty="0">
                <a:sym typeface="Wingdings" panose="05000000000000000000" pitchFamily="2" charset="2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de-DE" dirty="0">
                <a:sym typeface="Wingdings" panose="05000000000000000000" pitchFamily="2" charset="2"/>
              </a:rPr>
              <a:t>On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pipes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i="1" dirty="0" err="1">
                <a:sym typeface="Wingdings" panose="05000000000000000000" pitchFamily="2" charset="2"/>
              </a:rPr>
              <a:t>dp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i="1" dirty="0" err="1">
                <a:sym typeface="Wingdings" panose="05000000000000000000" pitchFamily="2" charset="2"/>
              </a:rPr>
              <a:t>m_flow</a:t>
            </a:r>
            <a:r>
              <a:rPr lang="de-DE" dirty="0">
                <a:sym typeface="Wingdings" panose="05000000000000000000" pitchFamily="2" charset="2"/>
              </a:rPr>
              <a:t> and </a:t>
            </a:r>
            <a:r>
              <a:rPr lang="de-DE" i="1" dirty="0" err="1">
                <a:sym typeface="Wingdings" panose="05000000000000000000" pitchFamily="2" charset="2"/>
              </a:rPr>
              <a:t>Q_loss</a:t>
            </a:r>
            <a:endParaRPr lang="de-DE" i="1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de-DE" dirty="0">
                <a:sym typeface="Wingdings" panose="05000000000000000000" pitchFamily="2" charset="2"/>
              </a:rPr>
              <a:t>On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network </a:t>
            </a:r>
            <a:r>
              <a:rPr lang="de-DE" dirty="0" err="1">
                <a:sym typeface="Wingdings" panose="05000000000000000000" pitchFamily="2" charset="2"/>
              </a:rPr>
              <a:t>nodes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i="1" dirty="0" err="1">
                <a:sym typeface="Wingdings" panose="05000000000000000000" pitchFamily="2" charset="2"/>
              </a:rPr>
              <a:t>pressure</a:t>
            </a:r>
            <a:r>
              <a:rPr lang="de-DE" dirty="0">
                <a:sym typeface="Wingdings" panose="05000000000000000000" pitchFamily="2" charset="2"/>
              </a:rPr>
              <a:t> and </a:t>
            </a:r>
            <a:r>
              <a:rPr lang="de-DE" i="1" dirty="0" err="1">
                <a:sym typeface="Wingdings" panose="05000000000000000000" pitchFamily="2" charset="2"/>
              </a:rPr>
              <a:t>temperature</a:t>
            </a:r>
            <a:endParaRPr lang="de-DE" i="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B52449C-4B36-CEFD-3116-3106742E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16B7B4A-7379-EE55-0AC3-52FD02447471}"/>
              </a:ext>
            </a:extLst>
          </p:cNvPr>
          <p:cNvSpPr/>
          <p:nvPr/>
        </p:nvSpPr>
        <p:spPr>
          <a:xfrm>
            <a:off x="23121" y="298800"/>
            <a:ext cx="360000" cy="3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5A9C0D9-CC9A-609E-B83D-3633EA839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026" y="871200"/>
            <a:ext cx="2324871" cy="52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389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olienmaster EBC | E.ON ERC - Inhaltsfolien">
  <a:themeElements>
    <a:clrScheme name="RWTH E.ON">
      <a:dk1>
        <a:sysClr val="windowText" lastClr="000000"/>
      </a:dk1>
      <a:lt1>
        <a:sysClr val="window" lastClr="FFFFFF"/>
      </a:lt1>
      <a:dk2>
        <a:srgbClr val="DD402D"/>
      </a:dk2>
      <a:lt2>
        <a:srgbClr val="9D9EA0"/>
      </a:lt2>
      <a:accent1>
        <a:srgbClr val="DD402D"/>
      </a:accent1>
      <a:accent2>
        <a:srgbClr val="9D9EA0"/>
      </a:accent2>
      <a:accent3>
        <a:srgbClr val="000000"/>
      </a:accent3>
      <a:accent4>
        <a:srgbClr val="FFFFFF"/>
      </a:accent4>
      <a:accent5>
        <a:srgbClr val="DD402D"/>
      </a:accent5>
      <a:accent6>
        <a:srgbClr val="9D9EA0"/>
      </a:accent6>
      <a:hlink>
        <a:srgbClr val="000000"/>
      </a:hlink>
      <a:folHlink>
        <a:srgbClr val="9D9EA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_de_16_9" id="{EF029E65-9904-4530-B87F-B6C0ABA2B7BB}" vid="{26F29CCC-2E78-48D2-AA5D-4E5CB9CBBC8A}"/>
    </a:ext>
  </a:extLst>
</a:theme>
</file>

<file path=ppt/theme/theme2.xml><?xml version="1.0" encoding="utf-8"?>
<a:theme xmlns:a="http://schemas.openxmlformats.org/drawingml/2006/main" name="Folienmaster EBC | E.ON ERC - Titel-/Abschlussfolien">
  <a:themeElements>
    <a:clrScheme name="RWTH E.ON">
      <a:dk1>
        <a:sysClr val="windowText" lastClr="000000"/>
      </a:dk1>
      <a:lt1>
        <a:sysClr val="window" lastClr="FFFFFF"/>
      </a:lt1>
      <a:dk2>
        <a:srgbClr val="DD402D"/>
      </a:dk2>
      <a:lt2>
        <a:srgbClr val="9D9EA0"/>
      </a:lt2>
      <a:accent1>
        <a:srgbClr val="DD402D"/>
      </a:accent1>
      <a:accent2>
        <a:srgbClr val="9D9EA0"/>
      </a:accent2>
      <a:accent3>
        <a:srgbClr val="000000"/>
      </a:accent3>
      <a:accent4>
        <a:srgbClr val="FFFFFF"/>
      </a:accent4>
      <a:accent5>
        <a:srgbClr val="DD402D"/>
      </a:accent5>
      <a:accent6>
        <a:srgbClr val="9D9EA0"/>
      </a:accent6>
      <a:hlink>
        <a:srgbClr val="000000"/>
      </a:hlink>
      <a:folHlink>
        <a:srgbClr val="9D9EA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_de_16_9" id="{EF029E65-9904-4530-B87F-B6C0ABA2B7BB}" vid="{49DC58DF-0FB6-4EDC-9B59-A301C90599E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Vorlage_de_16_9</Template>
  <TotalTime>0</TotalTime>
  <Words>546</Words>
  <Application>Microsoft Office PowerPoint</Application>
  <PresentationFormat>Breitbild</PresentationFormat>
  <Paragraphs>79</Paragraphs>
  <Slides>7</Slides>
  <Notes>7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Arial</vt:lpstr>
      <vt:lpstr>Calibri</vt:lpstr>
      <vt:lpstr>Symbol</vt:lpstr>
      <vt:lpstr>Wingdings</vt:lpstr>
      <vt:lpstr>Folienmaster EBC | E.ON ERC - Inhaltsfolien</vt:lpstr>
      <vt:lpstr>Folienmaster EBC | E.ON ERC - Titel-/Abschlussfolien</vt:lpstr>
      <vt:lpstr>think-cell Slide</vt:lpstr>
      <vt:lpstr>Workflow documentation dynamic simulation pandapipes </vt:lpstr>
      <vt:lpstr>Agenda</vt:lpstr>
      <vt:lpstr>Important dependencies</vt:lpstr>
      <vt:lpstr>Minimum input that is required</vt:lpstr>
      <vt:lpstr>Minimum input that is required</vt:lpstr>
      <vt:lpstr>Simulation run and TEASER use</vt:lpstr>
      <vt:lpstr>Simulation results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Butenko, Arkadi</dc:creator>
  <cp:lastModifiedBy>Arkadi Butenko</cp:lastModifiedBy>
  <cp:revision>84</cp:revision>
  <cp:lastPrinted>2015-12-03T17:36:18Z</cp:lastPrinted>
  <dcterms:created xsi:type="dcterms:W3CDTF">2025-06-11T09:07:38Z</dcterms:created>
  <dcterms:modified xsi:type="dcterms:W3CDTF">2026-03-12T09:52:27Z</dcterms:modified>
</cp:coreProperties>
</file>